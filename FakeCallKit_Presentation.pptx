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0D158"/>
                </a:solidFill>
              </a:defRPr>
            </a:pPr>
            <a:r>
              <a:t>IOS 17+ • SWIFTUI • CALLKIT • APP INTENTS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9F9FB"/>
                </a:solidFill>
              </a:defRPr>
            </a:pPr>
            <a:r>
              <a:t>FakeCallKit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601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E8E93"/>
                </a:solidFill>
              </a:defRPr>
            </a:pPr>
            <a:r>
              <a:t>Нативный симулятор входящих звонков с реалистичным экраном iOS, голосовыми репликами в разговорный динамик и мгновенным запуском по Action Button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9F9FB"/>
                </a:solidFill>
              </a:defRPr>
            </a:pPr>
            <a:r>
              <a:t>Ключевые возможности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846320" cy="20116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22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1000" b="1">
                <a:solidFill>
                  <a:srgbClr val="30D158"/>
                </a:solidFill>
              </a:defRPr>
            </a:pPr>
            <a:r>
              <a:t>CALLKIT</a:t>
            </a:r>
          </a:p>
          <a:p>
            <a:pPr>
              <a:spcAft>
                <a:spcPts val="1000"/>
              </a:spcAft>
              <a:defRPr sz="1800" b="1">
                <a:solidFill>
                  <a:srgbClr val="F9F9FB"/>
                </a:solidFill>
              </a:defRPr>
            </a:pPr>
            <a:r>
              <a:t>Системный экран звонка</a:t>
            </a:r>
          </a:p>
          <a:p>
            <a:pPr>
              <a:defRPr sz="1300">
                <a:solidFill>
                  <a:srgbClr val="8E8E93"/>
                </a:solidFill>
              </a:defRPr>
            </a:pPr>
            <a:r>
              <a:t>Интеграция с CallKit (CXProvider) — вызов отображается как настоящий системный экран iPhone с рингтоном и слайдером ответа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4846320" cy="20116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22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1000" b="1">
                <a:solidFill>
                  <a:srgbClr val="30D158"/>
                </a:solidFill>
              </a:defRPr>
            </a:pPr>
            <a:r>
              <a:t>AVFOUNDATION</a:t>
            </a:r>
          </a:p>
          <a:p>
            <a:pPr>
              <a:spcAft>
                <a:spcPts val="1000"/>
              </a:spcAft>
              <a:defRPr sz="1800" b="1">
                <a:solidFill>
                  <a:srgbClr val="F9F9FB"/>
                </a:solidFill>
              </a:defRPr>
            </a:pPr>
            <a:r>
              <a:t>Голос в разговорный динамик</a:t>
            </a:r>
          </a:p>
          <a:p>
            <a:pPr>
              <a:defRPr sz="1300">
                <a:solidFill>
                  <a:srgbClr val="8E8E93"/>
                </a:solidFill>
              </a:defRPr>
            </a:pPr>
            <a:r>
              <a:t>Аудиосессия .voiceChat перенаправляет записанную речь собеседника прямо в ушной динамик телефона после поднятия трубки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06240"/>
            <a:ext cx="4846320" cy="20116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22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1000" b="1">
                <a:solidFill>
                  <a:srgbClr val="30D158"/>
                </a:solidFill>
              </a:defRPr>
            </a:pPr>
            <a:r>
              <a:t>APPINTENTS</a:t>
            </a:r>
          </a:p>
          <a:p>
            <a:pPr>
              <a:spcAft>
                <a:spcPts val="1000"/>
              </a:spcAft>
              <a:defRPr sz="1800" b="1">
                <a:solidFill>
                  <a:srgbClr val="F9F9FB"/>
                </a:solidFill>
              </a:defRPr>
            </a:pPr>
            <a:r>
              <a:t>Action Button &amp; Siri</a:t>
            </a:r>
          </a:p>
          <a:p>
            <a:pPr>
              <a:defRPr sz="1300">
                <a:solidFill>
                  <a:srgbClr val="8E8E93"/>
                </a:solidFill>
              </a:defRPr>
            </a:pPr>
            <a:r>
              <a:t>Поддержка AppIntents позволяет скрытно запланировать звонок нажатием физической кнопки на iPhone 15 Pro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06240"/>
            <a:ext cx="4846320" cy="20116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22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1000" b="1">
                <a:solidFill>
                  <a:srgbClr val="30D158"/>
                </a:solidFill>
              </a:defRPr>
            </a:pPr>
            <a:r>
              <a:t>БЕЗОПАСНОСТЬ</a:t>
            </a:r>
          </a:p>
          <a:p>
            <a:pPr>
              <a:spcAft>
                <a:spcPts val="1000"/>
              </a:spcAft>
              <a:defRPr sz="1800" b="1">
                <a:solidFill>
                  <a:srgbClr val="F9F9FB"/>
                </a:solidFill>
              </a:defRPr>
            </a:pPr>
            <a:r>
              <a:t>100% Offline &amp; Private</a:t>
            </a:r>
          </a:p>
          <a:p>
            <a:pPr>
              <a:defRPr sz="1300">
                <a:solidFill>
                  <a:srgbClr val="8E8E93"/>
                </a:solidFill>
              </a:defRPr>
            </a:pPr>
            <a:r>
              <a:t>Никаких внешних серверов — база сценариев и аудиофайлы хранятся локально в песочнице устройства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9F9FB"/>
                </a:solidFill>
              </a:defRPr>
            </a:pPr>
            <a:r>
              <a:t>Интерфейс приложения</a:t>
            </a:r>
          </a:p>
        </p:txBody>
      </p:sp>
      <p:pic>
        <p:nvPicPr>
          <p:cNvPr id="4" name="Picture 3" descr="main_scre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8800"/>
            <a:ext cx="2468880" cy="4423410"/>
          </a:xfrm>
          <a:prstGeom prst="rect">
            <a:avLst/>
          </a:prstGeom>
        </p:spPr>
      </p:pic>
      <p:pic>
        <p:nvPicPr>
          <p:cNvPr id="5" name="Picture 4" descr="incoming_c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828800"/>
            <a:ext cx="2468880" cy="442341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0" y="1828800"/>
            <a:ext cx="4389120" cy="42976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22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1000" b="1">
                <a:solidFill>
                  <a:srgbClr val="30D158"/>
                </a:solidFill>
              </a:defRPr>
            </a:pPr>
            <a:r>
              <a:t>UI / UX</a:t>
            </a:r>
          </a:p>
          <a:p>
            <a:pPr>
              <a:spcAft>
                <a:spcPts val="1000"/>
              </a:spcAft>
              <a:defRPr sz="1800" b="1">
                <a:solidFill>
                  <a:srgbClr val="F9F9FB"/>
                </a:solidFill>
              </a:defRPr>
            </a:pPr>
            <a:r>
              <a:t>Дизайн «Тихая роскошь»</a:t>
            </a:r>
          </a:p>
          <a:p>
            <a:pPr>
              <a:defRPr sz="1300">
                <a:solidFill>
                  <a:srgbClr val="8E8E93"/>
                </a:solidFill>
              </a:defRPr>
            </a:pPr>
            <a:r>
              <a:t>• Глубокий матовый черный фон (#09090B)</a:t>
            </a:r>
            <a:br/>
            <a:r>
              <a:t>• Тонкие контрастные сквирклы с радиусом скругления 16–20pt</a:t>
            </a:r>
            <a:br/>
            <a:r>
              <a:t>• Интуитивный таймер обратного отсчета с возможностью мгновенной отмены</a:t>
            </a:r>
            <a:br/>
            <a:r>
              <a:t>• Тактильный Taptic Feedback на каждом нажатии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9F9FB"/>
                </a:solidFill>
              </a:defRPr>
            </a:pPr>
            <a:r>
              <a:t>Архитектура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411480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22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1000" b="1">
                <a:solidFill>
                  <a:srgbClr val="30D158"/>
                </a:solidFill>
              </a:defRPr>
            </a:pPr>
            <a:r>
              <a:t>SERVICES</a:t>
            </a:r>
          </a:p>
          <a:p>
            <a:pPr>
              <a:spcAft>
                <a:spcPts val="1000"/>
              </a:spcAft>
              <a:defRPr sz="1800" b="1">
                <a:solidFill>
                  <a:srgbClr val="F9F9FB"/>
                </a:solidFill>
              </a:defRPr>
            </a:pPr>
            <a:r>
              <a:t>Core Services</a:t>
            </a:r>
          </a:p>
          <a:p>
            <a:pPr>
              <a:defRPr sz="1300">
                <a:solidFill>
                  <a:srgbClr val="8E8E93"/>
                </a:solidFill>
              </a:defRPr>
            </a:pPr>
            <a:r>
              <a:t>• CallManager (CallKit CXProvider)</a:t>
            </a:r>
            <a:br/>
            <a:r>
              <a:t>• AudioPlayerService (AVAudioSession earpiece)</a:t>
            </a:r>
            <a:br/>
            <a:r>
              <a:t>• AudioRecorderService (AAC/M4A recorder)</a:t>
            </a:r>
            <a:br/>
            <a:r>
              <a:t>• RingtoneService (PCM synthesizer)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828800"/>
            <a:ext cx="3200400" cy="411480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22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1000" b="1">
                <a:solidFill>
                  <a:srgbClr val="30D158"/>
                </a:solidFill>
              </a:defRPr>
            </a:pPr>
            <a:r>
              <a:t>SWIFTUI</a:t>
            </a:r>
          </a:p>
          <a:p>
            <a:pPr>
              <a:spcAft>
                <a:spcPts val="1000"/>
              </a:spcAft>
              <a:defRPr sz="1800" b="1">
                <a:solidFill>
                  <a:srgbClr val="F9F9FB"/>
                </a:solidFill>
              </a:defRPr>
            </a:pPr>
            <a:r>
              <a:t>UI Layer</a:t>
            </a:r>
          </a:p>
          <a:p>
            <a:pPr>
              <a:defRPr sz="1300">
                <a:solidFill>
                  <a:srgbClr val="8E8E93"/>
                </a:solidFill>
              </a:defRPr>
            </a:pPr>
            <a:r>
              <a:t>• ContentView (список сценариев, таймер)</a:t>
            </a:r>
            <a:br/>
            <a:r>
              <a:t>• CreateScriptView (форма создания и микрофон)</a:t>
            </a:r>
            <a:br/>
            <a:r>
              <a:t>• ScriptModel (модель данных Codable)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200400" cy="411480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22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1000" b="1">
                <a:solidFill>
                  <a:srgbClr val="30D158"/>
                </a:solidFill>
              </a:defRPr>
            </a:pPr>
            <a:r>
              <a:t>SYSTEM</a:t>
            </a:r>
          </a:p>
          <a:p>
            <a:pPr>
              <a:spcAft>
                <a:spcPts val="1000"/>
              </a:spcAft>
              <a:defRPr sz="1800" b="1">
                <a:solidFill>
                  <a:srgbClr val="F9F9FB"/>
                </a:solidFill>
              </a:defRPr>
            </a:pPr>
            <a:r>
              <a:t>System Integration</a:t>
            </a:r>
          </a:p>
          <a:p>
            <a:pPr>
              <a:defRPr sz="1300">
                <a:solidFill>
                  <a:srgbClr val="8E8E93"/>
                </a:solidFill>
              </a:defRPr>
            </a:pPr>
            <a:r>
              <a:t>• TriggerFakeCallIntent (AppIntent)</a:t>
            </a:r>
            <a:br/>
            <a:r>
              <a:t>• FakeCallShortcuts (AppShortcutsProvider)</a:t>
            </a:r>
            <a:br/>
            <a:r>
              <a:t>• VoIP &amp; Audio Background Modes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9F9FB"/>
                </a:solidFill>
              </a:defRPr>
            </a:pPr>
            <a:r>
              <a:t>Репозиторий готов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108960"/>
            <a:ext cx="9875520" cy="228600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22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1000" b="1">
                <a:solidFill>
                  <a:srgbClr val="30D158"/>
                </a:solidFill>
              </a:defRPr>
            </a:pPr>
            <a:r>
              <a:t>GITHUB</a:t>
            </a:r>
          </a:p>
          <a:p>
            <a:pPr>
              <a:spcAft>
                <a:spcPts val="1000"/>
              </a:spcAft>
              <a:defRPr sz="1800" b="1">
                <a:solidFill>
                  <a:srgbClr val="F9F9FB"/>
                </a:solidFill>
              </a:defRPr>
            </a:pPr>
            <a:r>
              <a:t>github.com/codexc01/fakecallios</a:t>
            </a:r>
          </a:p>
          <a:p>
            <a:pPr>
              <a:defRPr sz="1300">
                <a:solidFill>
                  <a:srgbClr val="8E8E93"/>
                </a:solidFill>
              </a:defRPr>
            </a:pPr>
            <a:r>
              <a:t>Проект успешно опубликован, код 100% компилируется под iOS 17+ и готов к тестированию на iPhone и симуляторе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